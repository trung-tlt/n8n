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  <p:sldMasterId id="2147483663" r:id="rId3"/>
  </p:sldMasterIdLst>
  <p:notesMasterIdLst>
    <p:notesMasterId r:id="rId14"/>
  </p:notesMasterIdLst>
  <p:sldIdLst>
    <p:sldId id="256" r:id="rId4"/>
    <p:sldId id="277" r:id="rId5"/>
    <p:sldId id="280" r:id="rId6"/>
    <p:sldId id="283" r:id="rId7"/>
    <p:sldId id="274" r:id="rId8"/>
    <p:sldId id="258" r:id="rId9"/>
    <p:sldId id="288" r:id="rId10"/>
    <p:sldId id="264" r:id="rId11"/>
    <p:sldId id="292" r:id="rId12"/>
    <p:sldId id="269" r:id="rId13"/>
  </p:sldIdLst>
  <p:sldSz cx="9144000" cy="5143500" type="screen16x9"/>
  <p:notesSz cx="6858000" cy="9144000"/>
  <p:embeddedFontLst>
    <p:embeddedFont>
      <p:font typeface="Lexend"/>
      <p:regular r:id="rId15"/>
      <p:bold r:id="rId16"/>
    </p:embeddedFont>
    <p:embeddedFont>
      <p:font typeface="Lexend Light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7"/>
    <p:restoredTop sz="94638"/>
  </p:normalViewPr>
  <p:slideViewPr>
    <p:cSldViewPr snapToGrid="0">
      <p:cViewPr varScale="1">
        <p:scale>
          <a:sx n="157" d="100"/>
          <a:sy n="157" d="100"/>
        </p:scale>
        <p:origin x="32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412bd6b8562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36563" y="0"/>
            <a:ext cx="1998663" cy="112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g412bd6b8562_5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r>
              <a:rPr dirty="0"/>
              <a:t>Welcome everyone to the n8n Builders Challenge in Ho Chi Minh City. Quick intro to n8n, the ambassador program, who I am, then straight into the rules and building.</a:t>
            </a:r>
          </a:p>
        </p:txBody>
      </p:sp>
      <p:sp>
        <p:nvSpPr>
          <p:cNvPr id="57" name="Google Shape;57;g412bd6b8562_5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228eca7c8_2_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36563" y="0"/>
            <a:ext cx="1998663" cy="112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g34228eca7c8_2_7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r>
              <a:rPr dirty="0"/>
              <a:t>For newcomers: think of n8n as LEGO for automation. Every workflow is Trigger, Process, Act. You can go fully no-code, and drop into JavaScript or Python when you need to.</a:t>
            </a:r>
          </a:p>
        </p:txBody>
      </p:sp>
      <p:sp>
        <p:nvSpPr>
          <p:cNvPr id="123" name="Google Shape;123;g34228eca7c8_2_7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228eca7c8_2_8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36563" y="0"/>
            <a:ext cx="1998663" cy="112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g34228eca7c8_2_84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r>
              <a:rPr dirty="0"/>
              <a:t>Three reasons n8n is a great first automation tool: huge integration library, AI built in, and you own your data because you can self-host. 200K+ community members worldwide.</a:t>
            </a:r>
          </a:p>
        </p:txBody>
      </p:sp>
      <p:sp>
        <p:nvSpPr>
          <p:cNvPr id="211" name="Google Shape;211;g34228eca7c8_2_84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228eca7c8_2_7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36563" y="0"/>
            <a:ext cx="1998663" cy="112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g34228eca7c8_2_78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r>
              <a:rPr dirty="0"/>
              <a:t>Ambassadors are volunteers who grow n8n communities in their cities: hosting events, sharing knowledge, connecting people. If you enjoy today, consider applying at n8n.io/ambassadors.</a:t>
            </a:r>
          </a:p>
        </p:txBody>
      </p:sp>
      <p:sp>
        <p:nvSpPr>
          <p:cNvPr id="153" name="Google Shape;153;g34228eca7c8_2_78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228eca7c8_2_8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36563" y="0"/>
            <a:ext cx="1998663" cy="112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g34228eca7c8_2_8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r>
              <a:rPr dirty="0"/>
              <a:t>Short personal intro: n8n Creator since April 2025, 35+ published templates, ranked #44 worldwide. Official n8n Ambassador for Ho Chi Minh City since June 2026. Focused on building AI applications.</a:t>
            </a:r>
          </a:p>
        </p:txBody>
      </p:sp>
      <p:sp>
        <p:nvSpPr>
          <p:cNvPr id="184" name="Google Shape;184;g34228eca7c8_2_8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12bd6b8562_5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36563" y="0"/>
            <a:ext cx="1998663" cy="112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412bd6b8562_5_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r>
              <a:rPr dirty="0"/>
              <a:t>Now the main event.</a:t>
            </a:r>
          </a:p>
        </p:txBody>
      </p:sp>
      <p:sp>
        <p:nvSpPr>
          <p:cNvPr id="71" name="Google Shape;71;g412bd6b8562_5_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228eca7c8_2_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36563" y="0"/>
            <a:ext cx="1998663" cy="112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g34228eca7c8_2_7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r>
              <a:rPr dirty="0"/>
              <a:t>Walk through the timeline. Building time is about 100 minutes, so scope small and ship.</a:t>
            </a:r>
          </a:p>
        </p:txBody>
      </p:sp>
      <p:sp>
        <p:nvSpPr>
          <p:cNvPr id="79" name="Google Shape;79;g34228eca7c8_2_7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4228eca7c8_2_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36563" y="0"/>
            <a:ext cx="1998663" cy="112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g34228eca7c8_2_86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r>
              <a:rPr dirty="0"/>
              <a:t>Judges score on three things: usefulness, completeness and shipping feasibility. A simple workflow that runs beats an ambitious one that doesn't.</a:t>
            </a:r>
          </a:p>
        </p:txBody>
      </p:sp>
      <p:sp>
        <p:nvSpPr>
          <p:cNvPr id="239" name="Google Shape;239;g34228eca7c8_2_86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228eca7c8_2_9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36563" y="0"/>
            <a:ext cx="1998663" cy="112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g34228eca7c8_2_90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r>
              <a:rPr dirty="0"/>
              <a:t>This is just the start. We'll run an offline event every two months. Want to speak or host? Come talk to me.</a:t>
            </a:r>
          </a:p>
        </p:txBody>
      </p:sp>
      <p:sp>
        <p:nvSpPr>
          <p:cNvPr id="275" name="Google Shape;275;g34228eca7c8_2_90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4228eca7c8_2_3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36563" y="0"/>
            <a:ext cx="1998663" cy="11255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4228eca7c8_2_345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r>
              <a:rPr dirty="0"/>
              <a:t>Thank you. Let's kick off the building phase!</a:t>
            </a:r>
          </a:p>
        </p:txBody>
      </p:sp>
      <p:sp>
        <p:nvSpPr>
          <p:cNvPr id="329" name="Google Shape;329;g34228eca7c8_2_345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1500000" cy="112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1.png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2.svg"/><Relationship Id="rId10" Type="http://schemas.openxmlformats.org/officeDocument/2006/relationships/image" Target="../media/image22.svg"/><Relationship Id="rId4" Type="http://schemas.openxmlformats.org/officeDocument/2006/relationships/image" Target="../media/image11.pn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svg"/><Relationship Id="rId9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1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.svg"/><Relationship Id="rId9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1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2.sv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7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52" cy="5142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7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6809" y="476250"/>
            <a:ext cx="1131422" cy="31428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7"/>
          <p:cNvSpPr/>
          <p:nvPr/>
        </p:nvSpPr>
        <p:spPr>
          <a:xfrm>
            <a:off x="581025" y="2331720"/>
            <a:ext cx="53949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4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n8n Builders Challenge</a:t>
            </a:r>
            <a:endParaRPr sz="49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rgbClr val="EA4B71"/>
                </a:solidFill>
                <a:latin typeface="Lexend"/>
                <a:ea typeface="Lexend"/>
                <a:cs typeface="Lexend"/>
                <a:sym typeface="Lexend"/>
              </a:rPr>
              <a:t>Hackathon · Ho Chi Minh City</a:t>
            </a:r>
            <a:endParaRPr sz="49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9D6E0"/>
                </a:solidFill>
                <a:latin typeface="Lexend Light"/>
                <a:ea typeface="Lexend Light"/>
                <a:cs typeface="Lexend Light"/>
                <a:sym typeface="Lexend Light"/>
              </a:rPr>
              <a:t>Saturday, 19 Sep 2026  ·  09:00–12:00  ·  MindX Technology School</a:t>
            </a:r>
            <a:endParaRPr sz="49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1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52" cy="514283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/>
          <p:nvPr/>
        </p:nvSpPr>
        <p:spPr>
          <a:xfrm>
            <a:off x="581022" y="661988"/>
            <a:ext cx="8364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0506"/>
              </a:buClr>
              <a:buSzPts val="2800"/>
              <a:buFont typeface="Lexend"/>
              <a:buNone/>
            </a:pPr>
            <a:r>
              <a:rPr lang="ru" sz="2800">
                <a:solidFill>
                  <a:srgbClr val="040506"/>
                </a:solidFill>
                <a:latin typeface="Lexend"/>
                <a:ea typeface="Lexend"/>
                <a:cs typeface="Lexend"/>
                <a:sym typeface="Lexend"/>
              </a:rPr>
              <a:t>What is n8n?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40095" y="284136"/>
            <a:ext cx="811522" cy="22542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/>
          <p:nvPr/>
        </p:nvSpPr>
        <p:spPr>
          <a:xfrm>
            <a:off x="581022" y="1232861"/>
            <a:ext cx="6949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40506"/>
              </a:buClr>
              <a:buSzPts val="1300"/>
            </a:pPr>
            <a:r>
              <a:rPr lang="en-US" sz="1300" dirty="0">
                <a:solidFill>
                  <a:srgbClr val="3A3842"/>
                </a:solidFill>
              </a:rPr>
              <a:t>n8n (pronounced "</a:t>
            </a:r>
            <a:r>
              <a:rPr lang="en-US" sz="1300" i="1" dirty="0">
                <a:solidFill>
                  <a:srgbClr val="3A3842"/>
                </a:solidFill>
              </a:rPr>
              <a:t>n-eight-n</a:t>
            </a:r>
            <a:r>
              <a:rPr lang="en-US" sz="1300" dirty="0">
                <a:solidFill>
                  <a:srgbClr val="3A3842"/>
                </a:solidFill>
              </a:rPr>
              <a:t>") is a</a:t>
            </a:r>
            <a:r>
              <a:rPr sz="1300" dirty="0">
                <a:solidFill>
                  <a:srgbClr val="3A3842"/>
                </a:solidFill>
              </a:rPr>
              <a:t>n AI workflow automation platform. Connect your apps, add AI, and let repetitive work run itself by linking nodes on a visual canvas.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21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2" y="2100263"/>
            <a:ext cx="2481249" cy="219998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/>
          <p:nvPr/>
        </p:nvSpPr>
        <p:spPr>
          <a:xfrm>
            <a:off x="752471" y="2643188"/>
            <a:ext cx="2124000" cy="1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1"/>
          <p:cNvSpPr/>
          <p:nvPr/>
        </p:nvSpPr>
        <p:spPr>
          <a:xfrm>
            <a:off x="752475" y="26432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40506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040506"/>
                </a:solidFill>
                <a:latin typeface="Lexend"/>
                <a:ea typeface="Lexend"/>
                <a:cs typeface="Lexend"/>
                <a:sym typeface="Lexend"/>
              </a:rPr>
              <a:t>Trigger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752471" y="3267188"/>
            <a:ext cx="2165400" cy="8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16B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64616B"/>
                </a:solidFill>
                <a:latin typeface="Lexend Light"/>
                <a:ea typeface="Lexend Light"/>
                <a:cs typeface="Lexend Light"/>
                <a:sym typeface="Lexend Light"/>
              </a:rPr>
              <a:t>Something happens: a new email, a form submission, a webhook or a schedule. The workflow starts.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21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28970" y="2100263"/>
            <a:ext cx="2481249" cy="219998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3500419" y="2643188"/>
            <a:ext cx="2124000" cy="1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3500424" y="26432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40506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040506"/>
                </a:solidFill>
                <a:latin typeface="Lexend"/>
                <a:ea typeface="Lexend"/>
                <a:cs typeface="Lexend"/>
                <a:sym typeface="Lexend"/>
              </a:rPr>
              <a:t>Process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3500419" y="3267188"/>
            <a:ext cx="2165400" cy="8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16B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64616B"/>
                </a:solidFill>
                <a:latin typeface="Lexend Light"/>
                <a:ea typeface="Lexend Light"/>
                <a:cs typeface="Lexend Light"/>
                <a:sym typeface="Lexend Light"/>
              </a:rPr>
              <a:t>Nodes fetch, filter and transform data. Drop in an AI Agent to read, reason and decide.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21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81690" y="2100263"/>
            <a:ext cx="2481249" cy="219998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/>
          <p:nvPr/>
        </p:nvSpPr>
        <p:spPr>
          <a:xfrm>
            <a:off x="6253139" y="2643188"/>
            <a:ext cx="2124000" cy="1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6253150" y="26432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40506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040506"/>
                </a:solidFill>
                <a:latin typeface="Lexend"/>
                <a:ea typeface="Lexend"/>
                <a:cs typeface="Lexend"/>
                <a:sym typeface="Lexend"/>
              </a:rPr>
              <a:t>Act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6253139" y="3267188"/>
            <a:ext cx="2165400" cy="8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16B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64616B"/>
                </a:solidFill>
                <a:latin typeface="Lexend Light"/>
                <a:ea typeface="Lexend Light"/>
                <a:cs typeface="Lexend Light"/>
                <a:sym typeface="Lexend Light"/>
              </a:rPr>
              <a:t>Post to Slack, update a Sheet, create a CRM record. Automatically, every single time.</a:t>
            </a:r>
            <a:endParaRPr/>
          </a:p>
        </p:txBody>
      </p:sp>
      <p:pic>
        <p:nvPicPr>
          <p:cNvPr id="147" name="Graphic 147" descr="Trigg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9300" y="2273300"/>
            <a:ext cx="241300" cy="241300"/>
          </a:xfrm>
          <a:prstGeom prst="rect">
            <a:avLst/>
          </a:prstGeom>
        </p:spPr>
      </p:pic>
      <p:pic>
        <p:nvPicPr>
          <p:cNvPr id="148" name="Graphic 148" descr="Proces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05200" y="2273300"/>
            <a:ext cx="241300" cy="241300"/>
          </a:xfrm>
          <a:prstGeom prst="rect">
            <a:avLst/>
          </a:prstGeom>
        </p:spPr>
      </p:pic>
      <p:pic>
        <p:nvPicPr>
          <p:cNvPr id="149" name="Graphic 149" descr="Ac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61100" y="2273300"/>
            <a:ext cx="2413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92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4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52" cy="5142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4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52" cy="514283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/>
          <p:nvPr/>
        </p:nvSpPr>
        <p:spPr>
          <a:xfrm>
            <a:off x="581025" y="662000"/>
            <a:ext cx="41148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exend"/>
              <a:buNone/>
            </a:pPr>
            <a:r>
              <a:rPr lang="ru" sz="2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Why Start with n8n?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4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740095" y="284136"/>
            <a:ext cx="811522" cy="22542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/>
          <p:nvPr/>
        </p:nvSpPr>
        <p:spPr>
          <a:xfrm>
            <a:off x="581022" y="155448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 Light"/>
              <a:buNone/>
            </a:pPr>
            <a:r>
              <a:rPr lang="ru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Simple enough to see.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 Light"/>
              <a:buNone/>
            </a:pPr>
            <a:r>
              <a:rPr lang="ru" sz="2000">
                <a:solidFill>
                  <a:srgbClr val="EA4B71"/>
                </a:solidFill>
                <a:latin typeface="Lexend"/>
                <a:ea typeface="Lexend"/>
                <a:cs typeface="Lexend"/>
                <a:sym typeface="Lexend"/>
              </a:rPr>
              <a:t>Powerful enough to ship.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 Light"/>
              <a:buNone/>
            </a:pPr>
            <a:r>
              <a:rPr lang="ru" sz="1200">
                <a:solidFill>
                  <a:srgbClr val="C9C5D3"/>
                </a:solidFill>
                <a:latin typeface="Lexend Light"/>
                <a:ea typeface="Lexend Light"/>
                <a:cs typeface="Lexend Light"/>
                <a:sym typeface="Lexend Light"/>
              </a:rPr>
              <a:t>Start with drag-and-drop. Add code when you need it. Your first workflow can run in minutes.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4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7725" y="719138"/>
            <a:ext cx="3705206" cy="117142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/>
          <p:nvPr/>
        </p:nvSpPr>
        <p:spPr>
          <a:xfrm>
            <a:off x="5445202" y="863689"/>
            <a:ext cx="296063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5445202" y="904589"/>
            <a:ext cx="30177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500+ Integrations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5445202" y="1178014"/>
            <a:ext cx="3001904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Ready-made nodes for Google, Slack, Notion, OpenAI and more. HTTP Request covers any other API.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4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25" y="2100263"/>
            <a:ext cx="3705206" cy="117142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/>
          <p:nvPr/>
        </p:nvSpPr>
        <p:spPr>
          <a:xfrm>
            <a:off x="5445202" y="2244814"/>
            <a:ext cx="296063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5445202" y="2265302"/>
            <a:ext cx="30177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AI-Native by Design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5445202" y="2559139"/>
            <a:ext cx="3001904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Build AI agents, RAG and multi-agent flows. Swap LLMs without rebuilding.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4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7725" y="3481388"/>
            <a:ext cx="3705206" cy="117142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5445202" y="3625939"/>
            <a:ext cx="296063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5445202" y="3666839"/>
            <a:ext cx="30177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Open &amp; Self-Hostable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5445202" y="3940264"/>
            <a:ext cx="3001904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Fair-code with 200K+ GitHub stars. Use n8n Cloud or run it on your own Docker or Kubernetes.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raphic 234" descr="500+ Integration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29200" y="876300"/>
            <a:ext cx="292100" cy="292100"/>
          </a:xfrm>
          <a:prstGeom prst="rect">
            <a:avLst/>
          </a:prstGeom>
        </p:spPr>
      </p:pic>
      <p:pic>
        <p:nvPicPr>
          <p:cNvPr id="235" name="Graphic 235" descr="AI-Native by Desig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9200" y="2260600"/>
            <a:ext cx="292100" cy="292100"/>
          </a:xfrm>
          <a:prstGeom prst="rect">
            <a:avLst/>
          </a:prstGeom>
        </p:spPr>
      </p:pic>
      <p:pic>
        <p:nvPicPr>
          <p:cNvPr id="236" name="Graphic 236" descr="Open and Self-Hostab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29200" y="3644900"/>
            <a:ext cx="2921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48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52" cy="5142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52" cy="5142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740095" y="284136"/>
            <a:ext cx="811522" cy="22542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/>
          <p:nvPr/>
        </p:nvSpPr>
        <p:spPr>
          <a:xfrm>
            <a:off x="581022" y="661988"/>
            <a:ext cx="8364066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exend"/>
              <a:buNone/>
            </a:pPr>
            <a:r>
              <a:rPr lang="ru" sz="2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The n8n Ambassador Program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581022" y="1232860"/>
            <a:ext cx="6949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 Light"/>
              <a:buNone/>
            </a:pPr>
            <a:r>
              <a:rPr lang="ru" sz="1300">
                <a:solidFill>
                  <a:srgbClr val="C9C5D3"/>
                </a:solidFill>
                <a:latin typeface="Lexend Light"/>
                <a:ea typeface="Lexend Light"/>
                <a:cs typeface="Lexend Light"/>
                <a:sym typeface="Lexend Light"/>
              </a:rPr>
              <a:t>Community leaders who represent n8n locally and globally. Interested? Apply at n8n.io/ambassadors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2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2" y="2100263"/>
            <a:ext cx="2481250" cy="219998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/>
          <p:nvPr/>
        </p:nvSpPr>
        <p:spPr>
          <a:xfrm>
            <a:off x="752471" y="2643188"/>
            <a:ext cx="2124064" cy="138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752475" y="26432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Host &amp; Teach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752471" y="3267113"/>
            <a:ext cx="2165400" cy="8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Run meetups, workshops and hackathons, just like today’s challenge.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22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31351" y="2100263"/>
            <a:ext cx="2481250" cy="219998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/>
          <p:nvPr/>
        </p:nvSpPr>
        <p:spPr>
          <a:xfrm>
            <a:off x="3502801" y="2643188"/>
            <a:ext cx="2124064" cy="138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3502800" y="26432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Share Expertise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3502801" y="3267188"/>
            <a:ext cx="2165400" cy="8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Publish templates, tutorials and real-world use cases for everyone to reuse.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2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81681" y="2100263"/>
            <a:ext cx="2481250" cy="219998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/>
          <p:nvPr/>
        </p:nvSpPr>
        <p:spPr>
          <a:xfrm>
            <a:off x="6253130" y="2643188"/>
            <a:ext cx="2124064" cy="138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6253125" y="26432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Connect People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6253130" y="3267188"/>
            <a:ext cx="2165400" cy="8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Be the face of the local community, linking builders, companies and the n8n team.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raphic 178" descr="Host and Teach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9300" y="2273300"/>
            <a:ext cx="241300" cy="241300"/>
          </a:xfrm>
          <a:prstGeom prst="rect">
            <a:avLst/>
          </a:prstGeom>
        </p:spPr>
      </p:pic>
      <p:pic>
        <p:nvPicPr>
          <p:cNvPr id="179" name="Graphic 179" descr="Share Expertis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05200" y="2273300"/>
            <a:ext cx="241300" cy="241300"/>
          </a:xfrm>
          <a:prstGeom prst="rect">
            <a:avLst/>
          </a:prstGeom>
        </p:spPr>
      </p:pic>
      <p:pic>
        <p:nvPicPr>
          <p:cNvPr id="180" name="Graphic 180" descr="Connect Peop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61100" y="2273300"/>
            <a:ext cx="2413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460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" y="670"/>
            <a:ext cx="9143952" cy="514283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/>
          <p:nvPr/>
        </p:nvSpPr>
        <p:spPr>
          <a:xfrm>
            <a:off x="581025" y="662000"/>
            <a:ext cx="41148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0506"/>
              </a:buClr>
              <a:buSzPts val="2800"/>
              <a:buFont typeface="Lexend"/>
              <a:buNone/>
            </a:pPr>
            <a:r>
              <a:rPr lang="ru" sz="2800">
                <a:solidFill>
                  <a:srgbClr val="040506"/>
                </a:solidFill>
                <a:latin typeface="Lexend"/>
                <a:ea typeface="Lexend"/>
                <a:cs typeface="Lexend"/>
                <a:sym typeface="Lexend"/>
              </a:rPr>
              <a:t>Meet Your Ambassador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3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40095" y="284136"/>
            <a:ext cx="811522" cy="22542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/>
          <p:nvPr/>
        </p:nvSpPr>
        <p:spPr>
          <a:xfrm>
            <a:off x="581022" y="2834640"/>
            <a:ext cx="36576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40506"/>
              </a:buClr>
              <a:buSzPts val="1300"/>
              <a:buFont typeface="Lexend Light"/>
              <a:buNone/>
            </a:pPr>
            <a:r>
              <a:rPr lang="ru" sz="2600" dirty="0">
                <a:solidFill>
                  <a:srgbClr val="040506"/>
                </a:solidFill>
                <a:latin typeface="Lexend"/>
                <a:ea typeface="Lexend"/>
                <a:cs typeface="Lexend"/>
                <a:sym typeface="Lexend"/>
              </a:rPr>
              <a:t>Trung Tran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40506"/>
              </a:buClr>
              <a:buSzPts val="1300"/>
              <a:buFont typeface="Lexend Light"/>
              <a:buNone/>
            </a:pPr>
            <a:r>
              <a:rPr lang="ru" sz="1200" dirty="0">
                <a:solidFill>
                  <a:srgbClr val="EA4B71"/>
                </a:solidFill>
                <a:latin typeface="Lexend"/>
                <a:ea typeface="Lexend"/>
                <a:cs typeface="Lexend"/>
                <a:sym typeface="Lexend"/>
              </a:rPr>
              <a:t>Official n8n Ambassador · Ho Chi Minh City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40506"/>
              </a:buClr>
              <a:buSzPts val="1300"/>
              <a:buFont typeface="Lexend Light"/>
              <a:buNone/>
            </a:pPr>
            <a:r>
              <a:rPr lang="ru" sz="1100" dirty="0">
                <a:solidFill>
                  <a:srgbClr val="3A3842"/>
                </a:solidFill>
                <a:latin typeface="Lexend Light"/>
                <a:ea typeface="Lexend Light"/>
                <a:cs typeface="Lexend Light"/>
                <a:sym typeface="Lexend Light"/>
              </a:rPr>
              <a:t>n8n Creator since April 2025 and official ambassador since June 2026. Here to help you build your first (or fiftieth) workflow.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2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25" y="719138"/>
            <a:ext cx="3705206" cy="117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/>
          <p:nvPr/>
        </p:nvSpPr>
        <p:spPr>
          <a:xfrm>
            <a:off x="5445202" y="863689"/>
            <a:ext cx="296063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3"/>
          <p:cNvSpPr/>
          <p:nvPr/>
        </p:nvSpPr>
        <p:spPr>
          <a:xfrm>
            <a:off x="5445202" y="904589"/>
            <a:ext cx="30177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0506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040506"/>
                </a:solidFill>
                <a:latin typeface="Lexend"/>
                <a:ea typeface="Lexend"/>
                <a:cs typeface="Lexend"/>
                <a:sym typeface="Lexend"/>
              </a:rPr>
              <a:t>#44 n8n Creator Worldwide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5445202" y="1178014"/>
            <a:ext cx="3001904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16B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64616B"/>
                </a:solidFill>
                <a:latin typeface="Lexend Light"/>
                <a:ea typeface="Lexend Light"/>
                <a:cs typeface="Lexend Light"/>
                <a:sym typeface="Lexend Light"/>
              </a:rPr>
              <a:t>Ranked among the top n8n Creators globally, creating since April 2025.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25" y="2062163"/>
            <a:ext cx="3705206" cy="117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/>
          <p:nvPr/>
        </p:nvSpPr>
        <p:spPr>
          <a:xfrm>
            <a:off x="5445202" y="2206714"/>
            <a:ext cx="296063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3"/>
          <p:cNvSpPr/>
          <p:nvPr/>
        </p:nvSpPr>
        <p:spPr>
          <a:xfrm>
            <a:off x="5445202" y="2247614"/>
            <a:ext cx="30177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0506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040506"/>
                </a:solidFill>
                <a:latin typeface="Lexend"/>
                <a:ea typeface="Lexend"/>
                <a:cs typeface="Lexend"/>
                <a:sym typeface="Lexend"/>
              </a:rPr>
              <a:t>35+ Published Templates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5445202" y="2521039"/>
            <a:ext cx="3001904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16B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64616B"/>
                </a:solidFill>
                <a:latin typeface="Lexend Light"/>
                <a:ea typeface="Lexend Light"/>
                <a:cs typeface="Lexend Light"/>
                <a:sym typeface="Lexend Light"/>
              </a:rPr>
              <a:t>Ready-to-use workflows on the official n8n template library, free for everyone.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2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25" y="3405188"/>
            <a:ext cx="3705206" cy="117142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/>
          <p:nvPr/>
        </p:nvSpPr>
        <p:spPr>
          <a:xfrm>
            <a:off x="5445202" y="3549739"/>
            <a:ext cx="296063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5445202" y="3590639"/>
            <a:ext cx="30177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0506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040506"/>
                </a:solidFill>
                <a:latin typeface="Lexend"/>
                <a:ea typeface="Lexend"/>
                <a:cs typeface="Lexend"/>
                <a:sym typeface="Lexend"/>
              </a:rPr>
              <a:t>AI Application Builder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5445202" y="3864064"/>
            <a:ext cx="3001904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616B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64616B"/>
                </a:solidFill>
                <a:latin typeface="Lexend Light"/>
                <a:ea typeface="Lexend Light"/>
                <a:cs typeface="Lexend Light"/>
                <a:sym typeface="Lexend Light"/>
              </a:rPr>
              <a:t>Builds AI agents and automations that make it to production.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2AF136-5734-DECA-2F3A-8C523BEBE0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600" y="1423441"/>
            <a:ext cx="1280160" cy="1280160"/>
          </a:xfrm>
          <a:prstGeom prst="ellipse">
            <a:avLst/>
          </a:prstGeom>
          <a:ln w="28575">
            <a:solidFill>
              <a:srgbClr val="EA4B71"/>
            </a:solidFill>
          </a:ln>
          <a:effectLst>
            <a:outerShdw blurRad="90000" dist="30000" dir="5400000" rotWithShape="0">
              <a:srgbClr val="000000">
                <a:alpha val="28000"/>
              </a:srgbClr>
            </a:outerShdw>
          </a:effectLst>
        </p:spPr>
      </p:pic>
      <p:pic>
        <p:nvPicPr>
          <p:cNvPr id="206" name="Graphic 206" descr="Trophy icon for #44 rank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9200" y="876300"/>
            <a:ext cx="292100" cy="292100"/>
          </a:xfrm>
          <a:prstGeom prst="rect">
            <a:avLst/>
          </a:prstGeom>
        </p:spPr>
      </p:pic>
      <p:pic>
        <p:nvPicPr>
          <p:cNvPr id="208" name="Graphic 208" descr="AI icon for AI application build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9200" y="3568700"/>
            <a:ext cx="292100" cy="292100"/>
          </a:xfrm>
          <a:prstGeom prst="rect">
            <a:avLst/>
          </a:prstGeom>
        </p:spPr>
      </p:pic>
      <p:pic>
        <p:nvPicPr>
          <p:cNvPr id="209" name="Graphic 209" descr="Flowchart icon for published workflow templat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29200" y="2222500"/>
            <a:ext cx="2921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72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9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52" cy="5142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9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6809" y="476250"/>
            <a:ext cx="1131422" cy="31428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9"/>
          <p:cNvSpPr/>
          <p:nvPr/>
        </p:nvSpPr>
        <p:spPr>
          <a:xfrm>
            <a:off x="585216" y="2286000"/>
            <a:ext cx="60350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00"/>
              <a:buFont typeface="Lexend"/>
              <a:buNone/>
            </a:pPr>
            <a:r>
              <a:rPr lang="ru" sz="2200" dirty="0">
                <a:solidFill>
                  <a:srgbClr val="EA4B71"/>
                </a:solidFill>
                <a:latin typeface="Lexend"/>
                <a:ea typeface="Lexend"/>
                <a:cs typeface="Lexend"/>
                <a:sym typeface="Lexend"/>
              </a:rPr>
              <a:t>The Hackathon</a:t>
            </a:r>
            <a:endParaRPr sz="4000" dirty="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900"/>
              <a:buFont typeface="Lexend"/>
              <a:buNone/>
            </a:pPr>
            <a:r>
              <a:rPr lang="ru" sz="3600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n8n Builders Challenge</a:t>
            </a:r>
            <a:endParaRPr sz="4000" dirty="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4900"/>
              <a:buFont typeface="Lexend"/>
              <a:buNone/>
            </a:pPr>
            <a:r>
              <a:rPr lang="vi-VN" dirty="0">
                <a:solidFill>
                  <a:srgbClr val="D9D6E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ru" sz="1400">
                <a:solidFill>
                  <a:srgbClr val="D9D6E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ru" sz="1400" dirty="0">
                <a:solidFill>
                  <a:srgbClr val="D9D6E0"/>
                </a:solidFill>
                <a:latin typeface="Lexend Light"/>
                <a:ea typeface="Lexend Light"/>
                <a:cs typeface="Lexend Light"/>
                <a:sym typeface="Lexend Light"/>
              </a:rPr>
              <a:t>hours  ·  </a:t>
            </a:r>
            <a:r>
              <a:rPr lang="vi-VN" sz="1400" dirty="0">
                <a:solidFill>
                  <a:srgbClr val="D9D6E0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ru" sz="1400" dirty="0">
                <a:solidFill>
                  <a:srgbClr val="D9D6E0"/>
                </a:solidFill>
                <a:latin typeface="Lexend Light"/>
                <a:ea typeface="Lexend Light"/>
                <a:cs typeface="Lexend Light"/>
                <a:sym typeface="Lexend Light"/>
              </a:rPr>
              <a:t> business briefs  ·  teams of 2–4</a:t>
            </a:r>
            <a:endParaRPr sz="4000" dirty="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0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5" y="0"/>
            <a:ext cx="9144000" cy="520757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0"/>
          <p:cNvSpPr/>
          <p:nvPr/>
        </p:nvSpPr>
        <p:spPr>
          <a:xfrm>
            <a:off x="581022" y="661988"/>
            <a:ext cx="798191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Saturday, 19 September: Agenda</a:t>
            </a:r>
            <a:endParaRPr sz="2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" name="Google Shape;83;p20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40095" y="284136"/>
            <a:ext cx="811522" cy="22542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/>
          <p:nvPr/>
        </p:nvSpPr>
        <p:spPr>
          <a:xfrm>
            <a:off x="581022" y="1232861"/>
            <a:ext cx="7132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rPr>
              <a:t>MindX Technology School, 9F International Plaza, 343 Pham Ngu Lao, District 1. Free entry · mentors on the floor all morning.</a:t>
            </a:r>
            <a:endParaRPr sz="1300">
              <a:solidFill>
                <a:srgbClr val="FFFFF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5" name="Google Shape;85;p20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834" y="2884246"/>
            <a:ext cx="1600617" cy="194656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/>
          <p:nvPr/>
        </p:nvSpPr>
        <p:spPr>
          <a:xfrm>
            <a:off x="542075" y="3358732"/>
            <a:ext cx="12381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325" tIns="29325" rIns="29325" bIns="293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0"/>
          <p:cNvSpPr/>
          <p:nvPr/>
        </p:nvSpPr>
        <p:spPr>
          <a:xfrm>
            <a:off x="542075" y="3358732"/>
            <a:ext cx="1287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2"/>
              <a:buFont typeface="Lexend"/>
              <a:buNone/>
            </a:pPr>
            <a:r>
              <a:rPr lang="ru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vi-VN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ru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lang="vi-VN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ru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 Check-in</a:t>
            </a:r>
            <a:endParaRPr sz="111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0"/>
          <p:cNvSpPr/>
          <p:nvPr/>
        </p:nvSpPr>
        <p:spPr>
          <a:xfrm>
            <a:off x="542075" y="3890254"/>
            <a:ext cx="12735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855"/>
              <a:buFont typeface="Lexend Light"/>
              <a:buNone/>
            </a:pPr>
            <a:r>
              <a:rPr lang="ru" sz="855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Badge pickup, coffee and networking.</a:t>
            </a:r>
            <a:endParaRPr sz="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20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24369" y="2884246"/>
            <a:ext cx="1600617" cy="194656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0"/>
          <p:cNvSpPr/>
          <p:nvPr/>
        </p:nvSpPr>
        <p:spPr>
          <a:xfrm>
            <a:off x="2305610" y="3358732"/>
            <a:ext cx="12381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325" tIns="29325" rIns="29325" bIns="293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0"/>
          <p:cNvSpPr/>
          <p:nvPr/>
        </p:nvSpPr>
        <p:spPr>
          <a:xfrm>
            <a:off x="2305610" y="3358732"/>
            <a:ext cx="1287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2"/>
              <a:buFont typeface="Lexend"/>
              <a:buNone/>
            </a:pPr>
            <a:r>
              <a:rPr lang="ru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09:</a:t>
            </a:r>
            <a:r>
              <a:rPr lang="vi-VN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lang="ru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Kick-off</a:t>
            </a:r>
            <a:endParaRPr sz="111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0"/>
          <p:cNvSpPr/>
          <p:nvPr/>
        </p:nvSpPr>
        <p:spPr>
          <a:xfrm>
            <a:off x="2305606" y="3890248"/>
            <a:ext cx="12870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855"/>
              <a:buFont typeface="Lexend Light"/>
              <a:buNone/>
            </a:pPr>
            <a:r>
              <a:rPr lang="ru" sz="855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Rules explained and three business briefs revealed.</a:t>
            </a:r>
            <a:endParaRPr sz="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0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87905" y="2884246"/>
            <a:ext cx="1600617" cy="194656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/>
          <p:nvPr/>
        </p:nvSpPr>
        <p:spPr>
          <a:xfrm>
            <a:off x="4069146" y="3358732"/>
            <a:ext cx="12381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325" tIns="29325" rIns="29325" bIns="293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0"/>
          <p:cNvSpPr/>
          <p:nvPr/>
        </p:nvSpPr>
        <p:spPr>
          <a:xfrm>
            <a:off x="4069146" y="3358732"/>
            <a:ext cx="1287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2"/>
              <a:buFont typeface="Lexend"/>
              <a:buNone/>
            </a:pPr>
            <a:r>
              <a:rPr lang="ru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09:</a:t>
            </a:r>
            <a:r>
              <a:rPr lang="vi-VN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r>
              <a:rPr lang="ru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Build</a:t>
            </a:r>
            <a:endParaRPr sz="111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4069146" y="3890254"/>
            <a:ext cx="12735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855"/>
              <a:buFont typeface="Lexend Light"/>
              <a:buNone/>
            </a:pPr>
            <a:r>
              <a:rPr lang="ru" sz="855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Teams of 2–4 build n8n workflows with mentor support.</a:t>
            </a:r>
            <a:endParaRPr sz="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0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51440" y="2884246"/>
            <a:ext cx="1600617" cy="194656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/>
          <p:nvPr/>
        </p:nvSpPr>
        <p:spPr>
          <a:xfrm>
            <a:off x="5832681" y="3358732"/>
            <a:ext cx="12381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325" tIns="29325" rIns="29325" bIns="293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0"/>
          <p:cNvSpPr/>
          <p:nvPr/>
        </p:nvSpPr>
        <p:spPr>
          <a:xfrm>
            <a:off x="5832681" y="3358732"/>
            <a:ext cx="1287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2"/>
              <a:buFont typeface="Lexend"/>
              <a:buNone/>
            </a:pPr>
            <a:r>
              <a:rPr lang="ru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vi-VN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ru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lang="vi-VN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ru" sz="1112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0 Demos</a:t>
            </a:r>
            <a:endParaRPr sz="1112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5832681" y="3890254"/>
            <a:ext cx="12735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855"/>
              <a:buFont typeface="Lexend Light"/>
              <a:buNone/>
            </a:pPr>
            <a:r>
              <a:rPr lang="ru" sz="855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Each team gets four minutes to demo live to the judges.</a:t>
            </a:r>
            <a:endParaRPr sz="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20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91826" y="2898899"/>
            <a:ext cx="1600617" cy="1946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7573067" y="3373386"/>
            <a:ext cx="12381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325" tIns="29325" rIns="29325" bIns="293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7573067" y="3373386"/>
            <a:ext cx="1287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2"/>
              <a:buFont typeface="Lexend"/>
              <a:buNone/>
            </a:pPr>
            <a:r>
              <a:rPr lang="ru" sz="1112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11:40 Results</a:t>
            </a:r>
            <a:endParaRPr sz="111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7573067" y="3904907"/>
            <a:ext cx="12735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855"/>
              <a:buFont typeface="Lexend Light"/>
              <a:buNone/>
            </a:pPr>
            <a:r>
              <a:rPr lang="ru" sz="855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Prizes, then wrap-up and group photo at 12:00.</a:t>
            </a:r>
            <a:endParaRPr sz="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raphic 117" descr="Check-i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00" y="3048000"/>
            <a:ext cx="215900" cy="215900"/>
          </a:xfrm>
          <a:prstGeom prst="rect">
            <a:avLst/>
          </a:prstGeom>
        </p:spPr>
      </p:pic>
      <p:pic>
        <p:nvPicPr>
          <p:cNvPr id="118" name="Graphic 118" descr="Kick-off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11400" y="3048000"/>
            <a:ext cx="215900" cy="215900"/>
          </a:xfrm>
          <a:prstGeom prst="rect">
            <a:avLst/>
          </a:prstGeom>
        </p:spPr>
      </p:pic>
      <p:pic>
        <p:nvPicPr>
          <p:cNvPr id="119" name="Graphic 119" descr="Buil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64000" y="3048000"/>
            <a:ext cx="215900" cy="215900"/>
          </a:xfrm>
          <a:prstGeom prst="rect">
            <a:avLst/>
          </a:prstGeom>
        </p:spPr>
      </p:pic>
      <p:pic>
        <p:nvPicPr>
          <p:cNvPr id="120" name="Graphic 120" descr="Demo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29300" y="3048000"/>
            <a:ext cx="215900" cy="215900"/>
          </a:xfrm>
          <a:prstGeom prst="rect">
            <a:avLst/>
          </a:prstGeom>
        </p:spPr>
      </p:pic>
      <p:pic>
        <p:nvPicPr>
          <p:cNvPr id="121" name="Graphic 121" descr="Result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69200" y="3060700"/>
            <a:ext cx="2159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714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5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52" cy="514283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/>
          <p:nvPr/>
        </p:nvSpPr>
        <p:spPr>
          <a:xfrm>
            <a:off x="581022" y="661988"/>
            <a:ext cx="798191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exend"/>
              <a:buNone/>
            </a:pPr>
            <a:r>
              <a:rPr lang="ru" sz="2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How the Challenge Works</a:t>
            </a:r>
            <a:endParaRPr sz="2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3" name="Google Shape;243;p25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40095" y="284136"/>
            <a:ext cx="811522" cy="225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922" y="1438275"/>
            <a:ext cx="3929042" cy="236189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/>
          <p:nvPr/>
        </p:nvSpPr>
        <p:spPr>
          <a:xfrm>
            <a:off x="757233" y="1714500"/>
            <a:ext cx="3428982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Before You Build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914400" y="2066543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 dirty="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Bring a laptop </a:t>
            </a:r>
            <a:r>
              <a:rPr lang="vi-VN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(n8n instance will be provided)</a:t>
            </a:r>
            <a:endParaRPr sz="1000" dirty="0">
              <a:solidFill>
                <a:srgbClr val="ADA9B7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914400" y="2340863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Form teams of 2–4 (pre-formed teams welcome)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914400" y="2615184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Pick one of the three business briefs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914400" y="2889503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Stuck? Grab an on-floor mentor anytime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914400" y="3163824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New to n8n? Ask for a quick walkthrough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914400" y="3438144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Aim for a workflow that actually runs</a:t>
            </a:r>
            <a:endParaRPr sz="1000">
              <a:solidFill>
                <a:srgbClr val="ADA9B7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757233" y="2148839"/>
            <a:ext cx="42862" cy="42863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757233" y="2423159"/>
            <a:ext cx="42862" cy="42863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757233" y="2697479"/>
            <a:ext cx="42862" cy="42863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757233" y="2971799"/>
            <a:ext cx="42862" cy="42863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757233" y="3246120"/>
            <a:ext cx="42900" cy="42900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757233" y="3520439"/>
            <a:ext cx="42900" cy="42900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8" name="Google Shape;258;p25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71988" y="2262188"/>
            <a:ext cx="3929042" cy="236189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>
            <a:off x="4886300" y="2538413"/>
            <a:ext cx="3428982" cy="28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Judging &amp; Demo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065776" y="2889504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Usefulness: solves a real business problem</a:t>
            </a:r>
            <a:endParaRPr sz="1000">
              <a:solidFill>
                <a:srgbClr val="ADA9B7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065776" y="3163824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Completeness: works end-to-end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065776" y="3438144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Shipping feasibility: could go live soon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065776" y="3712464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Four-minute live demo, show it running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065776" y="3986784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Winning templates shared with the community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065776" y="4261104"/>
            <a:ext cx="338328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DA9B7"/>
              </a:buClr>
              <a:buSzPts val="1000"/>
              <a:buFont typeface="Lexend Light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Learn from each other and have fun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4886300" y="2971800"/>
            <a:ext cx="42862" cy="42863"/>
          </a:xfrm>
          <a:prstGeom prst="ellipse">
            <a:avLst/>
          </a:prstGeom>
          <a:solidFill>
            <a:srgbClr val="FF9827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4886300" y="3246120"/>
            <a:ext cx="42862" cy="42863"/>
          </a:xfrm>
          <a:prstGeom prst="ellipse">
            <a:avLst/>
          </a:prstGeom>
          <a:solidFill>
            <a:srgbClr val="FF9827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5"/>
          <p:cNvSpPr/>
          <p:nvPr/>
        </p:nvSpPr>
        <p:spPr>
          <a:xfrm>
            <a:off x="4886300" y="3520440"/>
            <a:ext cx="42862" cy="42863"/>
          </a:xfrm>
          <a:prstGeom prst="ellipse">
            <a:avLst/>
          </a:prstGeom>
          <a:solidFill>
            <a:srgbClr val="FF9827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5"/>
          <p:cNvSpPr/>
          <p:nvPr/>
        </p:nvSpPr>
        <p:spPr>
          <a:xfrm>
            <a:off x="4886300" y="3794760"/>
            <a:ext cx="42900" cy="42900"/>
          </a:xfrm>
          <a:prstGeom prst="ellipse">
            <a:avLst/>
          </a:prstGeom>
          <a:solidFill>
            <a:srgbClr val="FF9827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4886300" y="4069080"/>
            <a:ext cx="42900" cy="42900"/>
          </a:xfrm>
          <a:prstGeom prst="ellipse">
            <a:avLst/>
          </a:prstGeom>
          <a:solidFill>
            <a:srgbClr val="FF9827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4886300" y="4343400"/>
            <a:ext cx="42900" cy="42900"/>
          </a:xfrm>
          <a:prstGeom prst="ellipse">
            <a:avLst/>
          </a:prstGeom>
          <a:solidFill>
            <a:srgbClr val="FF9827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6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52" cy="5142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4052" y="1426368"/>
            <a:ext cx="5095848" cy="102799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6"/>
          <p:cNvSpPr/>
          <p:nvPr/>
        </p:nvSpPr>
        <p:spPr>
          <a:xfrm>
            <a:off x="2609836" y="1854556"/>
            <a:ext cx="4308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ru" sz="1000" dirty="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The n8n Ho Chi Minh City community meets in person every two months</a:t>
            </a:r>
            <a:r>
              <a:rPr lang="vi-VN" sz="1000" dirty="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 (hackathon, workshop, meetup and more…)</a:t>
            </a:r>
            <a:r>
              <a:rPr lang="ru" sz="1000" dirty="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581022" y="661988"/>
            <a:ext cx="7981918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What’s Next: Meet Offline Every 2 Months</a:t>
            </a:r>
            <a:endParaRPr sz="2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1" name="Google Shape;281;p26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740095" y="284136"/>
            <a:ext cx="811522" cy="22542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6"/>
          <p:cNvSpPr/>
          <p:nvPr/>
        </p:nvSpPr>
        <p:spPr>
          <a:xfrm>
            <a:off x="2609836" y="1595438"/>
            <a:ext cx="43242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"/>
              <a:buNone/>
            </a:pPr>
            <a:r>
              <a:rPr lang="ru" sz="1300" dirty="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Bi-monthly offline meetups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4052" y="2652713"/>
            <a:ext cx="5095848" cy="83809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6"/>
          <p:cNvSpPr/>
          <p:nvPr/>
        </p:nvSpPr>
        <p:spPr>
          <a:xfrm>
            <a:off x="2609836" y="2795588"/>
            <a:ext cx="426717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2609836" y="2795588"/>
            <a:ext cx="432432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Talks, demos &amp; build sessions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2609836" y="3072384"/>
            <a:ext cx="430845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From your first workflow to production AI agents, for newbies and veterans.</a:t>
            </a:r>
            <a:endParaRPr sz="1000">
              <a:solidFill>
                <a:srgbClr val="ADA9B7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92" name="Google Shape;292;p2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4052" y="3689528"/>
            <a:ext cx="5095849" cy="102799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6"/>
          <p:cNvSpPr/>
          <p:nvPr/>
        </p:nvSpPr>
        <p:spPr>
          <a:xfrm>
            <a:off x="2609836" y="4151376"/>
            <a:ext cx="4308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DA9B7"/>
                </a:solidFill>
                <a:latin typeface="Lexend Light"/>
                <a:ea typeface="Lexend Light"/>
                <a:cs typeface="Lexend Light"/>
                <a:sym typeface="Lexend Light"/>
              </a:rPr>
              <a:t>Follow our Luma page and join the community group to catch the next date.</a:t>
            </a:r>
            <a:endParaRPr sz="1000">
              <a:solidFill>
                <a:srgbClr val="ADA9B7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2609836" y="3858597"/>
            <a:ext cx="432432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exend"/>
              <a:buNone/>
            </a:pPr>
            <a:r>
              <a:rPr lang="ru" sz="13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Stay in the loop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raphic 295" descr="Bi-monthly meetup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7100" y="1612900"/>
            <a:ext cx="292100" cy="292100"/>
          </a:xfrm>
          <a:prstGeom prst="rect">
            <a:avLst/>
          </a:prstGeom>
        </p:spPr>
      </p:pic>
      <p:pic>
        <p:nvPicPr>
          <p:cNvPr id="297" name="Graphic 297" descr="Stay in the loop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97100" y="3822700"/>
            <a:ext cx="292100" cy="292100"/>
          </a:xfrm>
          <a:prstGeom prst="rect">
            <a:avLst/>
          </a:prstGeom>
        </p:spPr>
      </p:pic>
      <p:pic>
        <p:nvPicPr>
          <p:cNvPr id="298" name="Graphic 298" descr="Talks demos build session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97100" y="2806700"/>
            <a:ext cx="2921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19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 title="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29" y="-8091"/>
            <a:ext cx="9144003" cy="5143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0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680515" y="2508922"/>
            <a:ext cx="1771513" cy="49208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1371600" y="173736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Lexend"/>
              <a:buNone/>
            </a:pPr>
            <a:r>
              <a:rPr lang="ru" sz="3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Thank you! Now let’s build.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QR Code Image">
            <a:extLst>
              <a:ext uri="{FF2B5EF4-FFF2-40B4-BE49-F238E27FC236}">
                <a16:creationId xmlns:a16="http://schemas.microsoft.com/office/drawing/2014/main" id="{DC3571C1-EDC9-86D2-6C36-2D2B14357C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5400" y="3441700"/>
            <a:ext cx="1346200" cy="1346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2E7316-BE15-9A49-A33F-06E9B194D600}"/>
              </a:ext>
            </a:extLst>
          </p:cNvPr>
          <p:cNvSpPr txBox="1"/>
          <p:nvPr/>
        </p:nvSpPr>
        <p:spPr>
          <a:xfrm>
            <a:off x="3238500" y="4826000"/>
            <a:ext cx="2667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www.n8nambassador.com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BBA710-C3D1-2944-8E8C-1B2ADDF9763A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5da5e17b-4c4a-4872-854b-b245aedc4bd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944</Words>
  <Application>Microsoft Macintosh PowerPoint</Application>
  <PresentationFormat>On-screen Show (16:9)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Lexend Light</vt:lpstr>
      <vt:lpstr>Lexend</vt:lpstr>
      <vt:lpstr>Arial</vt:lpstr>
      <vt:lpstr>Simple Light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Trần Lê Thành Trung</cp:lastModifiedBy>
  <cp:revision>29</cp:revision>
  <dcterms:modified xsi:type="dcterms:W3CDTF">2026-09-21T03:20:34Z</dcterms:modified>
</cp:coreProperties>
</file>